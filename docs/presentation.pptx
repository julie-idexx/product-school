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07BEB-CA26-6A44-BE91-CDB20ECD6595}" v="296" dt="2025-01-20T16:04:07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2"/>
    <p:restoredTop sz="86438" autoAdjust="0"/>
  </p:normalViewPr>
  <p:slideViewPr>
    <p:cSldViewPr snapToGrid="0" snapToObjects="1">
      <p:cViewPr varScale="1">
        <p:scale>
          <a:sx n="109" d="100"/>
          <a:sy n="109" d="100"/>
        </p:scale>
        <p:origin x="59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3480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5/10/relationships/revisionInfo" Target="revisionInfo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Comeback</c:v>
                </c:pt>
              </c:strCache>
            </c:strRef>
          </c:tx>
          <c:spPr>
            <a:solidFill>
              <a:srgbClr val="0B76F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Day-7 retention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9A9B9C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Day-7 retention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9B9C"/>
            </a:solidFill>
          </a:ln>
        </c:spPr>
        <c:txPr>
          <a:bodyPr/>
          <a:lstStyle/>
          <a:p>
            <a:pPr>
              <a:defRPr sz="1400">
                <a:solidFill>
                  <a:srgbClr val="9A9B9C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59683F-509A-1DC0-FF31-81044C9BC4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DA0E3-E92D-030E-9D45-97CF045CC4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9E2D5-8DAC-49B8-9D5B-A8AD487628F9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93927-C014-0F18-53E3-C084898D4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F8F90-51CF-8AC5-7166-945FF49EC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9151F-4557-40C0-BB69-B52A3EB18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04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9C9CB-72D6-F444-85E2-519BAA40C333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D4D5C-70D2-3A42-95BF-F06557981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15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I walk through this, here's where we're headed: I have one specific ask today, with a timeline attached, and everything on the next five slides builds toward it. Let's start with the number you already track — Day-7 retention dropped from 48% to 39% after the v2 streak and notification redesign. That's not spread evenly across our user base; it's concentrated in one specific moment: once someone misses two days in a row, about 80% of them never come back. That's the insight that matters — this isn't a slow leak, it's a single point of failure we can actually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already approved the problem framing last time we talked — this slide is what's changed since then, not a re-litigation of why the drop happened. Three independent research methods — user interviews, NPS feedback, and a competitive study — all converged on the same fix: nobody in this category offers a real way back in after a streak breaks, only ways to prevent it before. We didn't stop at that finding. We built the thing, put it in front of real users, and ran it as a live randomized test, so what I'm about to show you is data, not a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exactly what we're proposing, and just as importantly, what we're not. The Comeback screen shows a returning user their best-ever streak and gives them a 60-second lesson to restart that same day — that's the full v1 scope, nothing more. What it isn't: it doesn't retroactively restore the streak they already lost — no competitor in the category does that, and we're not trying to be the first. And it's not a request to flip this on for everyone today; what I'm asking for later in this deck is permission to keep validating it at a larger scale before we do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evidence, and I want to be straight with you about what it does and doesn't prove yet. We piloted this on a real randomized split — half of one signup cohort saw the Comeback screen, half didn't — and the users who saw it retained at 76% on Day-7 versus 46% for the control group, a 30-point lift that's statistically significant. The engagement data backs it up too: people opened the follow-up messages more each time, 28% up to 56%, not less — the opposite of the notification fatigue we worried about. The one honest gap is Day-30: the lift there is still positive but not yet statistically proven, and I don't want to oversell that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here's the plan, and it's deliberately not ‘flip it on for everyone.’ We move the current version into the Q3 sprint as-is, and in parallel we run a two-week extension at a larger sample size specifically on the users who broke their streak, since that's the exact group the Day-30 number needs to prove out on. At the end of those two weeks, we make a real go or no-go call on full rollout — not an open-ended ‘let's keep watching it.’ The risk of not doing this is straightforward: every week we wait, the roughly 80% of week-one streak-breakers who currently never come back keep leaving at that same rate, on a problem we've already shown a working fix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here's the actual ask, and it's two things. First, approval to move this into the Q3 sprint at the scope I just described. Second, approval to run that two-week validation extension, with a hard go/no-go date at the end of it, so this doesn't turn into an indefinite ‘let's keep an eye on it.’ I'm not asking you to bet on Day-30 today — I'm asking for two more weeks to get you a number you can actually take to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1271-F6CD-2B44-BB71-002F161BF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0"/>
            <a:ext cx="11094334" cy="70460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Basic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74E3E-0616-424B-8272-E208F749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7532"/>
            <a:ext cx="11094334" cy="498943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FB1927-4559-B34C-A942-315F77A55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4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7DD04A-EA25-B545-AD34-A894E46A42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0"/>
            <a:ext cx="11187952" cy="64427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Only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AB9C9B-2AA9-1544-AEAC-4823EE31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271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svg"/><Relationship Id="rId5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562A2-51C0-B64B-9B7B-D0D14627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00" y="329266"/>
            <a:ext cx="10706100" cy="46513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B7015-8E05-2640-AFC4-5EF744F4A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400" y="934018"/>
            <a:ext cx="10706100" cy="5242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AAAAB97-EE2F-414A-84C4-124AD2C32F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6938" y="6554358"/>
            <a:ext cx="822960" cy="15082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79E00B5-55F1-724E-8CBB-A42BED874F7C}"/>
              </a:ext>
            </a:extLst>
          </p:cNvPr>
          <p:cNvSpPr/>
          <p:nvPr userDrawn="1"/>
        </p:nvSpPr>
        <p:spPr>
          <a:xfrm>
            <a:off x="134470" y="6526885"/>
            <a:ext cx="3365186" cy="21743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sz="7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© 2026 IDEXX Laboratories, Inc. All rights reserved.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317C2949-E10A-C542-8602-29193C289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7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2" userDrawn="1">
          <p15:clr>
            <a:srgbClr val="F26B43"/>
          </p15:clr>
        </p15:guide>
        <p15:guide id="2" pos="2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Day-7 retention dropped after the redesign — concentrated in one moment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AB9C9B-2AA9-1544-AEAC-4823EE31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00337F"/>
                </a:solidFill>
                <a:latin typeface="Arial"/>
              </a:rPr>
              <a:t>48% → 39%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1353D"/>
                </a:solidFill>
                <a:latin typeface="Arial"/>
              </a:rPr>
              <a:t>Day-7 retention since the v2 streak/notification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0B6F5E"/>
                </a:solidFill>
                <a:latin typeface="Arial"/>
              </a:rPr>
              <a:t>~80%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3375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1353D"/>
                </a:solidFill>
                <a:latin typeface="Arial"/>
              </a:rPr>
              <a:t>of users who miss 2 consecutive days never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1">
                <a:solidFill>
                  <a:srgbClr val="31353D"/>
                </a:solidFill>
                <a:latin typeface="Arial"/>
              </a:rPr>
              <a:t>This isn't a slow leak across the whole product — it's a single, targetable point of failure.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research methods and a live pilot converged on one fix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AB9C9B-2AA9-1544-AEAC-4823EE31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822960" cy="822960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74519"/>
            <a:ext cx="9326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31353D"/>
                </a:solidFill>
                <a:latin typeface="Arial"/>
              </a:rPr>
              <a:t>User interviews, NPS feedback, and competitive research all converged on the same gap — the streak reset itself, not the lesson content.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91839"/>
            <a:ext cx="822960" cy="822960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291839"/>
            <a:ext cx="9326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31353D"/>
                </a:solidFill>
                <a:latin typeface="Arial"/>
              </a:rPr>
              <a:t>No competitor in the category offers real recovery after a streak breaks. Every one only prevents a break before it happens.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709159"/>
            <a:ext cx="822960" cy="822960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709159"/>
            <a:ext cx="9326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31353D"/>
                </a:solidFill>
                <a:latin typeface="Arial"/>
              </a:rPr>
              <a:t>We didn't stop at a hypothesis: we built the Comeback screen and ran it as a live randomized pilot.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Comeback screen: one screen, deliberately limited scope for v1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AB9C9B-2AA9-1544-AEAC-4823EE31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B76F0"/>
                </a:solidFill>
                <a:latin typeface="Arial"/>
              </a:rPr>
              <a:t>WHAT IT IS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34056"/>
            <a:ext cx="329184" cy="329184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4617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31353D"/>
                </a:solidFill>
                <a:latin typeface="Arial"/>
              </a:rPr>
              <a:t>A permanent best-streak stat, shown separately from the reset counter.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39896"/>
            <a:ext cx="329184" cy="329184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611880"/>
            <a:ext cx="4617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31353D"/>
                </a:solidFill>
                <a:latin typeface="Arial"/>
              </a:rPr>
              <a:t>A 60-second lesson so the user can restart the habit the same day they return.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A9B9C"/>
                </a:solidFill>
                <a:latin typeface="Arial"/>
              </a:rPr>
              <a:t>WHAT IT ISN'T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2734056"/>
            <a:ext cx="329184" cy="329184"/>
          </a:xfrm>
          <a:prstGeom prst="ellipse">
            <a:avLst/>
          </a:prstGeom>
          <a:solidFill>
            <a:srgbClr val="9A9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606040"/>
            <a:ext cx="4617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31353D"/>
                </a:solidFill>
                <a:latin typeface="Arial"/>
              </a:rPr>
              <a:t>Retroactive restoration of the streak already lost — no competitor does this.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0" y="3739896"/>
            <a:ext cx="329184" cy="329184"/>
          </a:xfrm>
          <a:prstGeom prst="ellipse">
            <a:avLst/>
          </a:prstGeom>
          <a:solidFill>
            <a:srgbClr val="9A9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3611880"/>
            <a:ext cx="4617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31353D"/>
                </a:solidFill>
                <a:latin typeface="Arial"/>
              </a:rPr>
              <a:t>A request to roll out to 100% today — the ask is to keep validating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pilot: +30 points on Day-7, engagement climbing not fading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AB9C9B-2AA9-1544-AEAC-4823EE31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0" cy="30632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4348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31353D"/>
                </a:solidFill>
                <a:latin typeface="Arial"/>
              </a:rPr>
              <a:t>“There was no way to recover it, nothing. So I gave up.”</a:t>
            </a:r>
          </a:p>
          <a:p>
            <a:r>
              <a:rPr sz="1200" b="0" i="0">
                <a:solidFill>
                  <a:srgbClr val="9A9B9C"/>
                </a:solidFill>
                <a:latin typeface="Arial"/>
              </a:rPr>
              <a:t>— Tom</a:t>
            </a:r>
          </a:p>
          <a:p>
            <a:pPr>
              <a:spcBef>
                <a:spcPts val="1800"/>
              </a:spcBef>
            </a:pPr>
            <a:r>
              <a:rPr sz="1500" b="0" i="1">
                <a:solidFill>
                  <a:srgbClr val="31353D"/>
                </a:solidFill>
                <a:latin typeface="Arial"/>
              </a:rPr>
              <a:t>“I don't want to lose everything I've built after four days.”</a:t>
            </a:r>
          </a:p>
          <a:p>
            <a:r>
              <a:rPr sz="1200" b="0" i="0">
                <a:solidFill>
                  <a:srgbClr val="9A9B9C"/>
                </a:solidFill>
                <a:latin typeface="Arial"/>
              </a:rPr>
              <a:t>— Amara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1783080"/>
          <a:ext cx="52120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46177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337F"/>
                </a:solidFill>
                <a:latin typeface="Arial"/>
              </a:rPr>
              <a:t>+30 points, p = 0.002 (statistically significant)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61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9A9B9C"/>
                </a:solidFill>
                <a:latin typeface="Arial"/>
              </a:rPr>
              <a:t>Engagement climbed 28% → 56% across four follow-up messages, versus a flat 4% for control — the opposite of the fatigue we worried about.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9A9B9C"/>
                </a:solidFill>
                <a:latin typeface="Arial"/>
              </a:rPr>
              <a:t>Honest gap: the Day-30 lift is directionally positive (+14 points) but not yet statistically significant at this sample size.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steps to a rollout decision, not an open-ended watch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AB9C9B-2AA9-1544-AEAC-4823EE31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48840" y="1943100"/>
            <a:ext cx="777240" cy="777240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1353D"/>
                </a:solidFill>
                <a:latin typeface="Arial"/>
              </a:rPr>
              <a:t>Move v1 into the Q3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A9B9C"/>
                </a:solidFill>
                <a:latin typeface="Arial"/>
              </a:rPr>
              <a:t>Best-streak stat + 60-second lesson, as scoped.</a:t>
            </a:r>
          </a:p>
        </p:txBody>
      </p:sp>
      <p:sp>
        <p:nvSpPr>
          <p:cNvPr id="8" name="Chevron 7"/>
          <p:cNvSpPr/>
          <p:nvPr/>
        </p:nvSpPr>
        <p:spPr>
          <a:xfrm>
            <a:off x="4270248" y="2167127"/>
            <a:ext cx="274320" cy="329184"/>
          </a:xfrm>
          <a:prstGeom prst="chevron">
            <a:avLst/>
          </a:prstGeom>
          <a:solidFill>
            <a:srgbClr val="9C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97880" y="1943100"/>
            <a:ext cx="777240" cy="777240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1353D"/>
                </a:solidFill>
                <a:latin typeface="Arial"/>
              </a:rPr>
              <a:t>Run a 2-week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A9B9C"/>
                </a:solidFill>
                <a:latin typeface="Arial"/>
              </a:rPr>
              <a:t>Larger sample, focused on users who broke their streak.</a:t>
            </a:r>
          </a:p>
        </p:txBody>
      </p:sp>
      <p:sp>
        <p:nvSpPr>
          <p:cNvPr id="12" name="Chevron 11"/>
          <p:cNvSpPr/>
          <p:nvPr/>
        </p:nvSpPr>
        <p:spPr>
          <a:xfrm>
            <a:off x="8019288" y="2167127"/>
            <a:ext cx="274320" cy="329184"/>
          </a:xfrm>
          <a:prstGeom prst="chevron">
            <a:avLst/>
          </a:prstGeom>
          <a:solidFill>
            <a:srgbClr val="9C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46919" y="1943100"/>
            <a:ext cx="777240" cy="777240"/>
          </a:xfrm>
          <a:prstGeom prst="ellipse">
            <a:avLst/>
          </a:prstGeom>
          <a:solidFill>
            <a:srgbClr val="0B7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80360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1353D"/>
                </a:solidFill>
                <a:latin typeface="Arial"/>
              </a:rPr>
              <a:t>Go / no-go on full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A9B9C"/>
                </a:solidFill>
                <a:latin typeface="Arial"/>
              </a:rPr>
              <a:t>Decision made at the end of that window — not left open.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10561320" cy="1051560"/>
          </a:xfrm>
          <a:prstGeom prst="roundRect">
            <a:avLst>
              <a:gd name="adj" fmla="val 6000"/>
            </a:avLst>
          </a:prstGeom>
          <a:solidFill>
            <a:srgbClr val="E2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00337F"/>
                </a:solidFill>
                <a:latin typeface="Arial"/>
              </a:rPr>
              <a:t>Risk of waiting: </a:t>
            </a:r>
            <a:r>
              <a:rPr sz="1400" b="0" i="0">
                <a:solidFill>
                  <a:srgbClr val="31353D"/>
                </a:solidFill>
                <a:latin typeface="Arial"/>
              </a:rPr>
              <a:t>every week without this, the ~80% of week-1 streak-breakers who currently never return keep leaving at that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two approvals, one deadline attached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AB9C9B-2AA9-1544-AEAC-4823EE31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152" y="6448067"/>
            <a:ext cx="546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5853CD-906F-4B4A-BC91-0C97639529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 i="0">
                <a:solidFill>
                  <a:srgbClr val="0B76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240279"/>
            <a:ext cx="8961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0" i="0">
                <a:solidFill>
                  <a:srgbClr val="31353D"/>
                </a:solidFill>
                <a:latin typeface="Arial"/>
              </a:rPr>
              <a:t>Proceed into the Q3 sprint at v1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 i="0">
                <a:solidFill>
                  <a:srgbClr val="0B76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794760"/>
            <a:ext cx="8961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0" i="0">
                <a:solidFill>
                  <a:srgbClr val="31353D"/>
                </a:solidFill>
                <a:latin typeface="Arial"/>
              </a:rPr>
              <a:t>Run the two-week larger-sample extension, with a go/no-go date attached at the end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6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1">
                <a:solidFill>
                  <a:srgbClr val="9A9B9C"/>
                </a:solidFill>
                <a:latin typeface="Arial"/>
              </a:rPr>
              <a:t>Not asking for a bet on Day-30 today — asking for two more weeks to get a number worth taking to the 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31353D"/>
      </a:dk1>
      <a:lt1>
        <a:srgbClr val="FFFFFF"/>
      </a:lt1>
      <a:dk2>
        <a:srgbClr val="00337F"/>
      </a:dk2>
      <a:lt2>
        <a:srgbClr val="F0F0F0"/>
      </a:lt2>
      <a:accent1>
        <a:srgbClr val="0B76F0"/>
      </a:accent1>
      <a:accent2>
        <a:srgbClr val="9CDCFF"/>
      </a:accent2>
      <a:accent3>
        <a:srgbClr val="00CDA6"/>
      </a:accent3>
      <a:accent4>
        <a:srgbClr val="03CEFF"/>
      </a:accent4>
      <a:accent5>
        <a:srgbClr val="7FFFE0"/>
      </a:accent5>
      <a:accent6>
        <a:srgbClr val="893C6B"/>
      </a:accent6>
      <a:hlink>
        <a:srgbClr val="0776EE"/>
      </a:hlink>
      <a:folHlink>
        <a:srgbClr val="893C6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DEXX PowerPoint Template.pptx" id="{A239AFC9-E198-4308-B9A0-61B46EBDE9C7}" vid="{7845C191-5894-4283-B9FC-7697172596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918BC227EB9F4CB58184BDCE508882" ma:contentTypeVersion="4" ma:contentTypeDescription="Create a new document." ma:contentTypeScope="" ma:versionID="fe782c99f0e5d8fd4ec6e5d3130627f0">
  <xsd:schema xmlns:xsd="http://www.w3.org/2001/XMLSchema" xmlns:xs="http://www.w3.org/2001/XMLSchema" xmlns:p="http://schemas.microsoft.com/office/2006/metadata/properties" xmlns:ns2="3f02322e-8455-47b9-89c3-1203557a5d29" targetNamespace="http://schemas.microsoft.com/office/2006/metadata/properties" ma:root="true" ma:fieldsID="5a16ade1e9521f666acc48da4ad0e7df" ns2:_="">
    <xsd:import namespace="3f02322e-8455-47b9-89c3-1203557a5d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02322e-8455-47b9-89c3-1203557a5d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36AA13-4F07-4B4A-964F-7572D2DD8C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02322e-8455-47b9-89c3-1203557a5d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568C64-827D-43A7-8E91-68222556098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B50605B-5AB1-47C9-A17D-DE011844F3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Bonnie Kittle</dc:creator>
  <cp:lastModifiedBy>Macleod, Shelby</cp:lastModifiedBy>
  <cp:revision>183</cp:revision>
  <cp:lastPrinted>2023-06-12T19:59:48Z</cp:lastPrinted>
  <dcterms:created xsi:type="dcterms:W3CDTF">2023-06-07T20:20:26Z</dcterms:created>
  <dcterms:modified xsi:type="dcterms:W3CDTF">2026-08-13T21:38:43Z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0x010100EF918BC227EB9F4CB58184BDCE508882</vt:lpwstr>
  </property>
</Properties>
</file>